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 w="38100" cap="flat">
              <a:solidFill>
                <a:srgbClr val="1F6FE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2.4700000000000002</c:v>
                </c:pt>
                <c:pt idx="1">
                  <c:v>3.18</c:v>
                </c:pt>
                <c:pt idx="2">
                  <c:v>3.25</c:v>
                </c:pt>
                <c:pt idx="3">
                  <c:v>6.91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32-43E3-8DE3-E44C3A572F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Total Sales ($M)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8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State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3A-408B-BB24-CC0C66686FD5}"/>
              </c:ext>
            </c:extLst>
          </c:dPt>
          <c:dPt>
            <c:idx val="1"/>
            <c:bubble3D val="0"/>
            <c:spPr>
              <a:solidFill>
                <a:srgbClr val="8FB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3A-408B-BB24-CC0C66686FD5}"/>
              </c:ext>
            </c:extLst>
          </c:dPt>
          <c:dPt>
            <c:idx val="2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3A-408B-BB24-CC0C66686FD5}"/>
              </c:ext>
            </c:extLst>
          </c:dPt>
          <c:cat>
            <c:strRef>
              <c:f>Sheet1!$A$2:$A$4</c:f>
              <c:strCache>
                <c:ptCount val="3"/>
                <c:pt idx="0">
                  <c:v>Texas</c:v>
                </c:pt>
                <c:pt idx="1">
                  <c:v>Florida</c:v>
                </c:pt>
                <c:pt idx="2">
                  <c:v>South Carolina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8.33</c:v>
                </c:pt>
                <c:pt idx="1">
                  <c:v>6.09</c:v>
                </c:pt>
                <c:pt idx="2">
                  <c:v>1.39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3A-408B-BB24-CC0C66686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1A23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03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EmporiUm Sales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 Performance &amp; Strategic Insights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Hamzah Alssoudi  •  Year Up United Data Analytics  •  Capstone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$15.8M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South Region Sales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2025  •  In-store + Online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1554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Diversified Footprint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0" y="214884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A2332"/>
                </a:solidFill>
              </a:rPr>
              <a:t>A four-year review across these three states  Florida, South Carolina, and Texas  shows steady growth and a sharp acceleration in the most recent year.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332"/>
                </a:solidFill>
              </a:rPr>
              <a:t>Revenue is split almost evenly between in-store and online channels giving the region a balanced, resilient sales base across 24 store locations.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Over Time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7680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371600"/>
            <a:ext cx="3108960" cy="4572000"/>
          </a:xfrm>
          <a:prstGeom prst="roundRect">
            <a:avLst>
              <a:gd name="adj" fmla="val 294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3252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32520" y="210312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Sales nearly doubled in 2025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D8F5"/>
                </a:solidFill>
              </a:rPr>
              <a:t>After three years of steady gains, 2025 jumped to $6.9M, more than the two prior years combined.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by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904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Accessories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566160" y="1536192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E3E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66160" y="1536192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21440" y="149047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2103120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E3E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66160" y="2103120"/>
            <a:ext cx="1590075" cy="310896"/>
          </a:xfrm>
          <a:prstGeom prst="roundRect">
            <a:avLst>
              <a:gd name="adj" fmla="val 11765"/>
            </a:avLst>
          </a:prstGeom>
          <a:solidFill>
            <a:srgbClr val="8FB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47675" y="2057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&amp; Merchandise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66160" y="2670048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E3E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66160" y="2670048"/>
            <a:ext cx="475941" cy="310896"/>
          </a:xfrm>
          <a:prstGeom prst="roundRect">
            <a:avLst>
              <a:gd name="adj" fmla="val 11765"/>
            </a:avLst>
          </a:prstGeom>
          <a:solidFill>
            <a:srgbClr val="8FB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33541" y="26243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912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Supplies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66160" y="3236976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E3E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66160" y="3236976"/>
            <a:ext cx="378589" cy="310896"/>
          </a:xfrm>
          <a:prstGeom prst="roundRect">
            <a:avLst>
              <a:gd name="adj" fmla="val 11765"/>
            </a:avLst>
          </a:prstGeom>
          <a:solidFill>
            <a:srgbClr val="8FB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36189" y="319125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581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(General)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566160" y="3803904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E3E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66160" y="3803904"/>
            <a:ext cx="346139" cy="310896"/>
          </a:xfrm>
          <a:prstGeom prst="roundRect">
            <a:avLst>
              <a:gd name="adj" fmla="val 11765"/>
            </a:avLst>
          </a:prstGeom>
          <a:solidFill>
            <a:srgbClr val="8FB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03739" y="375818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3251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 &amp; Supplies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66160" y="4370832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E3E9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66160" y="4370832"/>
            <a:ext cx="173069" cy="310896"/>
          </a:xfrm>
          <a:prstGeom prst="roundRect">
            <a:avLst>
              <a:gd name="adj" fmla="val 21134"/>
            </a:avLst>
          </a:prstGeom>
          <a:solidFill>
            <a:srgbClr val="8FB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30669" y="432511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B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Accessories dominates the region, generating $11.5M  nearly 73% of all sales and almost 5x as Textbooks.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State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463040"/>
          <a:ext cx="51206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55448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37960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Texas  </a:t>
            </a:r>
            <a:r>
              <a:rPr lang="en-US" sz="1600" dirty="0">
                <a:solidFill>
                  <a:srgbClr val="5B6877"/>
                </a:solidFill>
              </a:rPr>
              <a:t>$8.33M  •  53% of region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37960" y="21488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</a:rPr>
              <a:t>The clear regional leader, driven by 11 stores plus strong online demand.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301752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37960" y="3200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Florida  </a:t>
            </a:r>
            <a:r>
              <a:rPr lang="en-US" sz="1600" dirty="0">
                <a:solidFill>
                  <a:srgbClr val="5B6877"/>
                </a:solidFill>
              </a:rPr>
              <a:t>$6.09M  •  39% of region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7960" y="3611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</a:rPr>
              <a:t>A strong second market with the region's deepest store network with 11 locations.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48056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46634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South Carolina  </a:t>
            </a:r>
            <a:r>
              <a:rPr lang="en-US" sz="1600" dirty="0">
                <a:solidFill>
                  <a:srgbClr val="5B6877"/>
                </a:solidFill>
              </a:rPr>
              <a:t>$1.39M  •  9% of region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5074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</a:rPr>
              <a:t>An emerging market with only 2 stores clear runway for expansion.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Stores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3520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STORE LOCATION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STORE MANAGER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SALES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Beaumont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Jeff "Howdy" Richards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Texas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$637,819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Miami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Lana Ilana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Florida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$618,846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Tallahassee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Lana Ilana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Florida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$541,671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Fort Worth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Jeff "Howdy" Richards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Texas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$351,773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Greenville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Len Jensen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South Carolina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$337,002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Key West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Lana Ilana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Florida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$332,620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5B6877"/>
                </a:solidFill>
              </a:rPr>
              <a:t>Beaumont Texas leads the region at $638K, followed closely by Florida's Miami and Tallahassee stores, together the top three account for over $1.8M in sales.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General Books &amp; Authors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2332"/>
                </a:solidFill>
              </a:rPr>
              <a:t>Beyond textbooks, general audience reading reveals clear customer favorites across fiction and non-fiction: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267712"/>
            <a:ext cx="384048" cy="384048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21214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</a:rPr>
              <a:t>#1 Best Seller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44144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</a:rPr>
              <a:t>Harry Potter and the Sorcerer's Stone  </a:t>
            </a:r>
            <a:r>
              <a:rPr lang="en-US" sz="1150" dirty="0">
                <a:solidFill>
                  <a:srgbClr val="5B6877"/>
                </a:solidFill>
              </a:rPr>
              <a:t>— J.K. Rowling — $10,845 in sales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384048" cy="384048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314553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</a:rPr>
              <a:t>Top Authors by Volume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46557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</a:rPr>
              <a:t>Rowling, Herbert, Gladwell, Tolkien  </a:t>
            </a:r>
            <a:r>
              <a:rPr lang="en-US" sz="1150" dirty="0">
                <a:solidFill>
                  <a:srgbClr val="5B6877"/>
                </a:solidFill>
              </a:rPr>
              <a:t>— Fiction and popular non-fiction lead demand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4315968"/>
            <a:ext cx="384048" cy="384048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1696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</a:rPr>
              <a:t>Non-Fiction Standout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489704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</a:rPr>
              <a:t>The Tipping Point &amp; Man's Search for Meaning  </a:t>
            </a:r>
            <a:r>
              <a:rPr lang="en-US" sz="1150" dirty="0">
                <a:solidFill>
                  <a:srgbClr val="5B6877"/>
                </a:solidFill>
              </a:rPr>
              <a:t>— Gladwell and Frankl both top $7,600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5340096"/>
            <a:ext cx="384048" cy="384048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51937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</a:rPr>
              <a:t>Classic Fiction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551383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</a:rPr>
              <a:t>Dune, The Hobbit, The Great Gatsby  </a:t>
            </a:r>
            <a:r>
              <a:rPr lang="en-US" sz="1150" dirty="0">
                <a:solidFill>
                  <a:srgbClr val="5B6877"/>
                </a:solidFill>
              </a:rPr>
              <a:t>— Enduring titles with consistent performance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0" y="201168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0" y="3017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8FB8FF"/>
                </a:solidFill>
              </a:rPr>
              <a:t>$501K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77240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in general book sales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E0"/>
                </a:solidFill>
              </a:rPr>
              <a:t>across 88 titles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21031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6FEB"/>
                </a:solidFill>
              </a:rPr>
              <a:t>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</a:rPr>
              <a:t>Tech Dominance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566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332"/>
                </a:solidFill>
              </a:rPr>
              <a:t>Technology &amp; Accessories drives 73% of revenue. EmporiUm South functions as much as a tech retailer as a bookstore.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6FEB"/>
                </a:solidFill>
              </a:rPr>
              <a:t>✦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0916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</a:rPr>
              <a:t>Texas Leads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09160" y="3566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332"/>
                </a:solidFill>
              </a:rPr>
              <a:t>Texas generates the most sales, with Beaumont as the single top performing store in the region.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58200" y="21031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5820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6FEB"/>
                </a:solidFill>
              </a:rPr>
              <a:t>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5820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</a:rPr>
              <a:t>Online = In-Store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8200" y="3566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332"/>
                </a:solidFill>
              </a:rPr>
              <a:t>Online and in-store revenue are nearly even, giving the region a balanced, resilient sales mix.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6733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1. Double Down on Tech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02996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</a:rPr>
              <a:t>Keep investing inventory and floor space in Technology &amp; Accessories, it is the region's clear revenue engine and the safest bet for growth.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86207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2. Replicate Texas &amp; Florida Playbooks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186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</a:rPr>
              <a:t>Study what makes Beaumont, Miami, and Tallahassee top performers, and apply those store and online tactics across all 24 locations.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0507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3. Grow South Carolina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40740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</a:rPr>
              <a:t>With only 2 stores and 9% of revenue, South Carolina is the region's biggest untapped opportunity for expansion.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0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2395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4. Sustain the Online Channel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59612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</a:rPr>
              <a:t>Online already matches in-store revenue, continue strengthening fulfillment and digital marketing to protect this balanced mix.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B8FF"/>
                </a:solidFill>
              </a:rPr>
              <a:t>Scan to view the full Power BI report, data sources, and documentation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7448" y="26974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926080"/>
            <a:ext cx="22860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6E0"/>
                </a:solidFill>
              </a:rPr>
              <a:t>github.com/Hamzah123456/Capstone_3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B7F1D75092C43A80735B994755528" ma:contentTypeVersion="10" ma:contentTypeDescription="Create a new document." ma:contentTypeScope="" ma:versionID="10fa938135b808f17595af21c7675450">
  <xsd:schema xmlns:xsd="http://www.w3.org/2001/XMLSchema" xmlns:xs="http://www.w3.org/2001/XMLSchema" xmlns:p="http://schemas.microsoft.com/office/2006/metadata/properties" xmlns:ns3="b275f972-a0ec-44ed-acfc-93b347ca42d1" targetNamespace="http://schemas.microsoft.com/office/2006/metadata/properties" ma:root="true" ma:fieldsID="8fffa6ddc6845d0759a1205da59a7e7c" ns3:_="">
    <xsd:import namespace="b275f972-a0ec-44ed-acfc-93b347ca42d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75f972-a0ec-44ed-acfc-93b347ca42d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75f972-a0ec-44ed-acfc-93b347ca42d1" xsi:nil="true"/>
  </documentManagement>
</p:properties>
</file>

<file path=customXml/itemProps1.xml><?xml version="1.0" encoding="utf-8"?>
<ds:datastoreItem xmlns:ds="http://schemas.openxmlformats.org/officeDocument/2006/customXml" ds:itemID="{730B51CD-B362-457C-AF2C-4DA55BB01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75f972-a0ec-44ed-acfc-93b347ca42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5A7047-EDE4-4489-8450-61357952E3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E15D8F-EAB0-4317-904D-B575C57E373B}">
  <ds:schemaRefs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b275f972-a0ec-44ed-acfc-93b347ca42d1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656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hamzah alssoudi</cp:lastModifiedBy>
  <cp:revision>3</cp:revision>
  <dcterms:created xsi:type="dcterms:W3CDTF">2026-06-26T09:45:07Z</dcterms:created>
  <dcterms:modified xsi:type="dcterms:W3CDTF">2026-06-26T09:58:01Z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0x0101006BAB7F1D75092C43A80735B994755528</vt:lpwstr>
  </property>
</Properties>
</file>